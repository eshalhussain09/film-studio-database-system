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316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61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641E-93C4-BF26-DEC3-6AFB7FE7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1E79B-8F18-77E0-1396-2ABC70FD7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7AE2F-312E-D62B-6883-927C85375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562F5-F0B6-2F65-1ACE-8147AD05E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43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2552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086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7289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355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2923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362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8937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2479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2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308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046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64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9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0EA5E9">
              <a:alpha val="7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286000" cy="22860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Film Studio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3088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114800" cy="0"/>
          </a:xfrm>
          <a:prstGeom prst="line">
            <a:avLst/>
          </a:prstGeom>
          <a:noFill/>
          <a:ln w="635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Eshal Hussain  24F-0597   ·   Ezza Bilal  24F-0603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11g  ·  C# WinForms  ·  EERD-Driven Design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2514B-CE61-694A-52A3-15EF7E81C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4F92B1-C32E-EAD8-A786-C24072FAE1F6}"/>
              </a:ext>
            </a:extLst>
          </p:cNvPr>
          <p:cNvSpPr/>
          <p:nvPr/>
        </p:nvSpPr>
        <p:spPr>
          <a:xfrm>
            <a:off x="0" y="0"/>
            <a:ext cx="9144000" cy="7493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A09B9C-FC0F-9077-659E-A4EF49FC74C7}"/>
              </a:ext>
            </a:extLst>
          </p:cNvPr>
          <p:cNvSpPr/>
          <p:nvPr/>
        </p:nvSpPr>
        <p:spPr>
          <a:xfrm>
            <a:off x="419100" y="0"/>
            <a:ext cx="72618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Seogo UI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15EFA5D-E80B-BEA8-C5F6-1B34581C1049}"/>
              </a:ext>
            </a:extLst>
          </p:cNvPr>
          <p:cNvSpPr/>
          <p:nvPr/>
        </p:nvSpPr>
        <p:spPr>
          <a:xfrm>
            <a:off x="384175" y="1073150"/>
            <a:ext cx="4502150" cy="354965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200" dirty="0">
              <a:solidFill>
                <a:srgbClr val="333333"/>
              </a:solidFill>
              <a:latin typeface="Seogo UI"/>
              <a:ea typeface="Arial" pitchFamily="34" charset="-122"/>
              <a:cs typeface="Arial" pitchFamily="34" charset="-120"/>
            </a:endParaRPr>
          </a:p>
          <a:p>
            <a:endParaRPr lang="en-US" sz="1200" dirty="0">
              <a:solidFill>
                <a:srgbClr val="333333"/>
              </a:solidFill>
              <a:latin typeface="Seogo UI"/>
              <a:ea typeface="Arial" pitchFamily="34" charset="-122"/>
              <a:cs typeface="Arial" pitchFamily="34" charset="-120"/>
            </a:endParaRPr>
          </a:p>
          <a:p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Project?</a:t>
            </a:r>
            <a:endParaRPr lang="en-US" sz="1600" dirty="0"/>
          </a:p>
          <a:p>
            <a:endParaRPr lang="en-US" sz="1200" dirty="0">
              <a:solidFill>
                <a:srgbClr val="333333"/>
              </a:solidFill>
              <a:latin typeface="Seogo UI"/>
              <a:ea typeface="Arial" pitchFamily="34" charset="-122"/>
              <a:cs typeface="Arial" pitchFamily="34" charset="-120"/>
            </a:endParaRPr>
          </a:p>
          <a:p>
            <a:endParaRPr lang="en-US" sz="1200" dirty="0">
              <a:solidFill>
                <a:srgbClr val="333333"/>
              </a:solidFill>
              <a:latin typeface="Seogo UI"/>
              <a:ea typeface="Arial" pitchFamily="34" charset="-122"/>
              <a:cs typeface="Arial" pitchFamily="34" charset="-120"/>
            </a:endParaRPr>
          </a:p>
          <a:p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A comprehensive Film Studio Management System built on   Oracle 11g and C# WinForms, designed to manage all aspects of movie production.</a:t>
            </a:r>
            <a:endParaRPr lang="en-US" sz="1200" dirty="0">
              <a:latin typeface="Seogo UI"/>
            </a:endParaRPr>
          </a:p>
          <a:p>
            <a:endParaRPr lang="en-US" sz="1200" dirty="0">
              <a:latin typeface="Seogo UI"/>
            </a:endParaRPr>
          </a:p>
          <a:p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 The system tracks directors, actors, crew members, shooting  locations, scenes, schedules, cast roles, and contracts in a  fully normalized relational database.</a:t>
            </a:r>
            <a:endParaRPr lang="en-US" sz="1200" dirty="0">
              <a:latin typeface="Seogo UI"/>
            </a:endParaRPr>
          </a:p>
          <a:p>
            <a:endParaRPr lang="en-US" sz="1200" dirty="0">
              <a:latin typeface="Seogo UI"/>
            </a:endParaRPr>
          </a:p>
          <a:p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Built on an EERD-driven design, the database enforces referential integrity through foreign keys, triggers, and stored procedures</a:t>
            </a:r>
            <a:endParaRPr lang="en-PK" sz="1200" dirty="0">
              <a:latin typeface="Seogo UI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5F1BB9D-9713-423E-A9E2-A81D09CE60DD}"/>
              </a:ext>
            </a:extLst>
          </p:cNvPr>
          <p:cNvSpPr/>
          <p:nvPr/>
        </p:nvSpPr>
        <p:spPr>
          <a:xfrm>
            <a:off x="327025" y="1073150"/>
            <a:ext cx="69850" cy="354965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05F7EB-7415-1B93-8DA5-EB2361AA67E4}"/>
              </a:ext>
            </a:extLst>
          </p:cNvPr>
          <p:cNvSpPr/>
          <p:nvPr/>
        </p:nvSpPr>
        <p:spPr>
          <a:xfrm>
            <a:off x="5097145" y="1093724"/>
            <a:ext cx="3662680" cy="36098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b="1" dirty="0">
              <a:solidFill>
                <a:srgbClr val="1A3A5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b="1" dirty="0">
              <a:solidFill>
                <a:srgbClr val="1A3A5C"/>
              </a:solidFill>
              <a:latin typeface="Arial" pitchFamily="34" charset="0"/>
              <a:cs typeface="Arial" pitchFamily="34" charset="-120"/>
            </a:endParaRPr>
          </a:p>
          <a:p>
            <a:endParaRPr lang="en-US" sz="14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196EC89-2CA9-10D4-787B-C9B59CB85488}"/>
              </a:ext>
            </a:extLst>
          </p:cNvPr>
          <p:cNvSpPr/>
          <p:nvPr/>
        </p:nvSpPr>
        <p:spPr>
          <a:xfrm>
            <a:off x="5359400" y="1719072"/>
            <a:ext cx="457200" cy="34747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AA9F71D6-C537-26FB-8467-3F4805B4D593}"/>
              </a:ext>
            </a:extLst>
          </p:cNvPr>
          <p:cNvSpPr/>
          <p:nvPr/>
        </p:nvSpPr>
        <p:spPr>
          <a:xfrm>
            <a:off x="5359400" y="1719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BA4A4DF9-EA4F-E3DF-399B-C80E07A7651D}"/>
              </a:ext>
            </a:extLst>
          </p:cNvPr>
          <p:cNvSpPr/>
          <p:nvPr/>
        </p:nvSpPr>
        <p:spPr>
          <a:xfrm>
            <a:off x="5359400" y="2221992"/>
            <a:ext cx="457200" cy="34747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3703CA0-3FAE-C7E0-926E-0F98DEE24538}"/>
              </a:ext>
            </a:extLst>
          </p:cNvPr>
          <p:cNvSpPr/>
          <p:nvPr/>
        </p:nvSpPr>
        <p:spPr>
          <a:xfrm>
            <a:off x="5359400" y="22219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E0BDC245-8B05-7C9A-8BC3-F7F3C6F09B89}"/>
              </a:ext>
            </a:extLst>
          </p:cNvPr>
          <p:cNvSpPr/>
          <p:nvPr/>
        </p:nvSpPr>
        <p:spPr>
          <a:xfrm>
            <a:off x="5359400" y="2724912"/>
            <a:ext cx="457200" cy="34747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90C8A49B-8878-E89E-930D-B28ADCD8EF5A}"/>
              </a:ext>
            </a:extLst>
          </p:cNvPr>
          <p:cNvSpPr/>
          <p:nvPr/>
        </p:nvSpPr>
        <p:spPr>
          <a:xfrm>
            <a:off x="5359400" y="27249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A60D6618-5BCB-18E7-D5CD-D000D8DF7BE4}"/>
              </a:ext>
            </a:extLst>
          </p:cNvPr>
          <p:cNvSpPr/>
          <p:nvPr/>
        </p:nvSpPr>
        <p:spPr>
          <a:xfrm>
            <a:off x="5359400" y="3227832"/>
            <a:ext cx="457200" cy="34747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6B6059C3-B0EB-34C1-50F1-DA2840C838EE}"/>
              </a:ext>
            </a:extLst>
          </p:cNvPr>
          <p:cNvSpPr/>
          <p:nvPr/>
        </p:nvSpPr>
        <p:spPr>
          <a:xfrm>
            <a:off x="5359400" y="32278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7CA62D23-4166-56BB-3EA4-D0C08DB36CA8}"/>
              </a:ext>
            </a:extLst>
          </p:cNvPr>
          <p:cNvSpPr/>
          <p:nvPr/>
        </p:nvSpPr>
        <p:spPr>
          <a:xfrm>
            <a:off x="5359400" y="3730752"/>
            <a:ext cx="457200" cy="34747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A9CC2CA7-B59E-F8B6-8EBA-FEF078E70851}"/>
              </a:ext>
            </a:extLst>
          </p:cNvPr>
          <p:cNvSpPr/>
          <p:nvPr/>
        </p:nvSpPr>
        <p:spPr>
          <a:xfrm>
            <a:off x="5359400" y="37307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856B0101-2A74-B0D6-062C-316A28E4F12B}"/>
              </a:ext>
            </a:extLst>
          </p:cNvPr>
          <p:cNvSpPr/>
          <p:nvPr/>
        </p:nvSpPr>
        <p:spPr>
          <a:xfrm>
            <a:off x="5359400" y="4233672"/>
            <a:ext cx="457200" cy="34747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710ABA79-91E2-8842-7F48-B881AA1F45B3}"/>
              </a:ext>
            </a:extLst>
          </p:cNvPr>
          <p:cNvSpPr/>
          <p:nvPr/>
        </p:nvSpPr>
        <p:spPr>
          <a:xfrm>
            <a:off x="5359400" y="4233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8AFA77-340E-1A1A-673C-CC6A3D513C90}"/>
              </a:ext>
            </a:extLst>
          </p:cNvPr>
          <p:cNvSpPr txBox="1"/>
          <p:nvPr/>
        </p:nvSpPr>
        <p:spPr>
          <a:xfrm>
            <a:off x="5816600" y="1737914"/>
            <a:ext cx="4575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Normalized Tables with full FK constraints</a:t>
            </a:r>
            <a:endParaRPr lang="en-US" sz="1200" dirty="0">
              <a:latin typeface="Seogo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734F13-E71F-DEC0-9906-38401F3D91F1}"/>
              </a:ext>
            </a:extLst>
          </p:cNvPr>
          <p:cNvSpPr txBox="1"/>
          <p:nvPr/>
        </p:nvSpPr>
        <p:spPr>
          <a:xfrm>
            <a:off x="5816600" y="2268843"/>
            <a:ext cx="5194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Database Views for role-based data access</a:t>
            </a:r>
            <a:endParaRPr lang="en-US" sz="1200" dirty="0">
              <a:latin typeface="Seogo U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F2DA85-3C5B-A0CE-9B3C-01CAA330B6C3}"/>
              </a:ext>
            </a:extLst>
          </p:cNvPr>
          <p:cNvSpPr txBox="1"/>
          <p:nvPr/>
        </p:nvSpPr>
        <p:spPr>
          <a:xfrm>
            <a:off x="5816600" y="2718100"/>
            <a:ext cx="5505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Triggers for audit logging &amp; validation</a:t>
            </a:r>
            <a:endParaRPr lang="en-US" sz="1200" dirty="0">
              <a:latin typeface="Seogo U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EB45F7-F1C3-E637-7FD6-DD8023357B03}"/>
              </a:ext>
            </a:extLst>
          </p:cNvPr>
          <p:cNvSpPr txBox="1"/>
          <p:nvPr/>
        </p:nvSpPr>
        <p:spPr>
          <a:xfrm>
            <a:off x="5816600" y="3272389"/>
            <a:ext cx="5661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Stored Procedures for CRUD operations</a:t>
            </a:r>
            <a:endParaRPr lang="en-US" sz="1200" dirty="0">
              <a:latin typeface="Seogo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12313A-C548-00E4-0ABB-77EC9CE45CE0}"/>
              </a:ext>
            </a:extLst>
          </p:cNvPr>
          <p:cNvSpPr txBox="1"/>
          <p:nvPr/>
        </p:nvSpPr>
        <p:spPr>
          <a:xfrm>
            <a:off x="5816600" y="3772777"/>
            <a:ext cx="5737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Functions for budget &amp; booking queries</a:t>
            </a:r>
            <a:endParaRPr lang="en-US" sz="1200" dirty="0">
              <a:latin typeface="Seogo U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EEDEDC-745C-A6C6-18CD-321090120564}"/>
              </a:ext>
            </a:extLst>
          </p:cNvPr>
          <p:cNvSpPr txBox="1"/>
          <p:nvPr/>
        </p:nvSpPr>
        <p:spPr>
          <a:xfrm>
            <a:off x="5816600" y="4191815"/>
            <a:ext cx="3019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ogo UI"/>
                <a:ea typeface="Arial" pitchFamily="34" charset="-122"/>
                <a:cs typeface="Arial" pitchFamily="34" charset="-120"/>
              </a:rPr>
              <a:t>Role-based access (Admin/Director/Actor/Crew)</a:t>
            </a:r>
            <a:endParaRPr lang="en-US" sz="1200" dirty="0">
              <a:latin typeface="Seogo U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4A871-0DCF-C536-350A-1E34F533BFD2}"/>
              </a:ext>
            </a:extLst>
          </p:cNvPr>
          <p:cNvSpPr txBox="1"/>
          <p:nvPr/>
        </p:nvSpPr>
        <p:spPr>
          <a:xfrm>
            <a:off x="5304154" y="1212834"/>
            <a:ext cx="1958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4398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Tables &amp; Attributes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55448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5" name="Text 3"/>
          <p:cNvSpPr/>
          <p:nvPr/>
        </p:nvSpPr>
        <p:spPr>
          <a:xfrm>
            <a:off x="7498080" y="1554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A5E9"/>
                </a:solidFill>
              </a:rPr>
              <a:t>10 TABLES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9235" y="825331"/>
            <a:ext cx="4297680" cy="55508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7" name="Shape 5"/>
          <p:cNvSpPr/>
          <p:nvPr/>
        </p:nvSpPr>
        <p:spPr>
          <a:xfrm>
            <a:off x="228599" y="822960"/>
            <a:ext cx="52007" cy="55508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8" name="Text 6"/>
          <p:cNvSpPr/>
          <p:nvPr/>
        </p:nvSpPr>
        <p:spPr>
          <a:xfrm>
            <a:off x="320040" y="8595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3595" y="86547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3595" y="1097289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director_id · full_name · dob · nationality · biography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59"/>
            <a:ext cx="4297680" cy="56969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12" name="Shape 10"/>
          <p:cNvSpPr/>
          <p:nvPr/>
        </p:nvSpPr>
        <p:spPr>
          <a:xfrm>
            <a:off x="4800600" y="822959"/>
            <a:ext cx="45719" cy="55508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13" name="Text 11"/>
          <p:cNvSpPr/>
          <p:nvPr/>
        </p:nvSpPr>
        <p:spPr>
          <a:xfrm>
            <a:off x="4902930" y="782659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3589" y="84785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0952" y="1106085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movie_id · title · release_year · genre · rating · budget · status · director_id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59" y="1539427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17" name="Shape 15"/>
          <p:cNvSpPr/>
          <p:nvPr/>
        </p:nvSpPr>
        <p:spPr>
          <a:xfrm>
            <a:off x="228599" y="1536192"/>
            <a:ext cx="52008" cy="6217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19" name="Text 17"/>
          <p:cNvSpPr/>
          <p:nvPr/>
        </p:nvSpPr>
        <p:spPr>
          <a:xfrm>
            <a:off x="823595" y="159919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3595" y="1837605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actor_id · full_name · dob · nationality · contact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75454" y="1527048"/>
            <a:ext cx="4297680" cy="6427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22" name="Shape 20"/>
          <p:cNvSpPr/>
          <p:nvPr/>
        </p:nvSpPr>
        <p:spPr>
          <a:xfrm>
            <a:off x="4775454" y="1527047"/>
            <a:ext cx="45719" cy="634171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23" name="Text 21"/>
          <p:cNvSpPr/>
          <p:nvPr/>
        </p:nvSpPr>
        <p:spPr>
          <a:xfrm>
            <a:off x="4866894" y="15636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3589" y="1623229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crew_member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0952" y="1855047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crew_id · full_name · department · specialization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59" y="2322990"/>
            <a:ext cx="4297680" cy="6577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27" name="Shape 25"/>
          <p:cNvSpPr/>
          <p:nvPr/>
        </p:nvSpPr>
        <p:spPr>
          <a:xfrm>
            <a:off x="228599" y="2322237"/>
            <a:ext cx="52007" cy="65779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28" name="Text 26"/>
          <p:cNvSpPr/>
          <p:nvPr/>
        </p:nvSpPr>
        <p:spPr>
          <a:xfrm>
            <a:off x="347027" y="232175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0542" y="24140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shooting_location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0542" y="269925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location_id · name · address · location_type · country · daily_rate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75454" y="2340863"/>
            <a:ext cx="4297680" cy="63280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32" name="Shape 30"/>
          <p:cNvSpPr/>
          <p:nvPr/>
        </p:nvSpPr>
        <p:spPr>
          <a:xfrm>
            <a:off x="4775454" y="2340864"/>
            <a:ext cx="45720" cy="6328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33" name="Text 31"/>
          <p:cNvSpPr/>
          <p:nvPr/>
        </p:nvSpPr>
        <p:spPr>
          <a:xfrm>
            <a:off x="4866894" y="2377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5806" y="237744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cast_role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6978" y="2666857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role_id · movie_id · actor_id · character_name · role_type · billing_order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9969" y="3163824"/>
            <a:ext cx="4297680" cy="66205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37" name="Shape 35"/>
          <p:cNvSpPr/>
          <p:nvPr/>
        </p:nvSpPr>
        <p:spPr>
          <a:xfrm>
            <a:off x="228600" y="3168078"/>
            <a:ext cx="45719" cy="657797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38" name="Text 36"/>
          <p:cNvSpPr/>
          <p:nvPr/>
        </p:nvSpPr>
        <p:spPr>
          <a:xfrm>
            <a:off x="280607" y="318947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0542" y="32114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0542" y="349669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contract_id · movie_id · party_id · party_type · signed_date · expiry_date · total_value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77454" y="3172968"/>
            <a:ext cx="4297680" cy="70132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 dirty="0"/>
          </a:p>
        </p:txBody>
      </p:sp>
      <p:sp>
        <p:nvSpPr>
          <p:cNvPr id="42" name="Shape 40"/>
          <p:cNvSpPr/>
          <p:nvPr/>
        </p:nvSpPr>
        <p:spPr>
          <a:xfrm>
            <a:off x="4789170" y="3193953"/>
            <a:ext cx="45720" cy="68033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43" name="Text 41"/>
          <p:cNvSpPr/>
          <p:nvPr/>
        </p:nvSpPr>
        <p:spPr>
          <a:xfrm>
            <a:off x="4866894" y="31912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5806" y="319125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86978" y="3505341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scene_id · movie_id · location_id · scene_no · description · duration · status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9235" y="4020597"/>
            <a:ext cx="4297680" cy="61442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47" name="Shape 45"/>
          <p:cNvSpPr/>
          <p:nvPr/>
        </p:nvSpPr>
        <p:spPr>
          <a:xfrm>
            <a:off x="229235" y="4025169"/>
            <a:ext cx="45720" cy="60985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48" name="Text 46"/>
          <p:cNvSpPr/>
          <p:nvPr/>
        </p:nvSpPr>
        <p:spPr>
          <a:xfrm>
            <a:off x="274955" y="3978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9587" y="40516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crew_assignment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9587" y="4343335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assignment_id · movie_id · crew_id · job_title · start_date · end_date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75454" y="4020597"/>
            <a:ext cx="4297680" cy="61442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52" name="Shape 50"/>
          <p:cNvSpPr/>
          <p:nvPr/>
        </p:nvSpPr>
        <p:spPr>
          <a:xfrm>
            <a:off x="4775454" y="4020597"/>
            <a:ext cx="45719" cy="61442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53" name="Text 51"/>
          <p:cNvSpPr/>
          <p:nvPr/>
        </p:nvSpPr>
        <p:spPr>
          <a:xfrm>
            <a:off x="4866894" y="4057173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5806" y="4057173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96662" y="4313205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schedule_id · movie_id · scene_id · location_id · shoot_date · start_time · end_time · status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Entity-Relationship Diagram (EERD)</a:t>
            </a:r>
            <a:endParaRPr lang="en-US" sz="20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6A5F5CC-1D72-0D32-AF95-8D73B5F64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777240"/>
            <a:ext cx="79476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Relationships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95528"/>
            <a:ext cx="8686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5" name="Text 3"/>
          <p:cNvSpPr/>
          <p:nvPr/>
        </p:nvSpPr>
        <p:spPr>
          <a:xfrm>
            <a:off x="301752" y="804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Entity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20850" y="804672"/>
            <a:ext cx="2101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Entity 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36392" y="804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Cardinality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3274" y="804672"/>
            <a:ext cx="946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088136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10" name="Shape 8"/>
          <p:cNvSpPr/>
          <p:nvPr/>
        </p:nvSpPr>
        <p:spPr>
          <a:xfrm>
            <a:off x="228600" y="1088136"/>
            <a:ext cx="36576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11" name="Text 9"/>
          <p:cNvSpPr/>
          <p:nvPr/>
        </p:nvSpPr>
        <p:spPr>
          <a:xfrm>
            <a:off x="320040" y="1088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DIRECTOR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20850" y="1088136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MOVIE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82112" y="1179576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200" dirty="0"/>
          </a:p>
        </p:txBody>
      </p:sp>
      <p:sp>
        <p:nvSpPr>
          <p:cNvPr id="14" name="Text 12"/>
          <p:cNvSpPr/>
          <p:nvPr/>
        </p:nvSpPr>
        <p:spPr>
          <a:xfrm>
            <a:off x="3136392" y="11795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1 : 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0724" y="1083310"/>
            <a:ext cx="44875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One director can direct multiple movies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1517904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17" name="Shape 15"/>
          <p:cNvSpPr/>
          <p:nvPr/>
        </p:nvSpPr>
        <p:spPr>
          <a:xfrm>
            <a:off x="228600" y="1517904"/>
            <a:ext cx="36576" cy="38404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18" name="Text 16"/>
          <p:cNvSpPr/>
          <p:nvPr/>
        </p:nvSpPr>
        <p:spPr>
          <a:xfrm>
            <a:off x="320040" y="15179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MOVIE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20850" y="1517904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CAST_ROLE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36392" y="1609344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21" name="Text 19"/>
          <p:cNvSpPr/>
          <p:nvPr/>
        </p:nvSpPr>
        <p:spPr>
          <a:xfrm>
            <a:off x="3136392" y="1609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1 : 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1200" y="1517904"/>
            <a:ext cx="443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movie has many cast roles (junction with actors)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1947672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24" name="Shape 22"/>
          <p:cNvSpPr/>
          <p:nvPr/>
        </p:nvSpPr>
        <p:spPr>
          <a:xfrm>
            <a:off x="228600" y="1947672"/>
            <a:ext cx="36576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25" name="Text 23"/>
          <p:cNvSpPr/>
          <p:nvPr/>
        </p:nvSpPr>
        <p:spPr>
          <a:xfrm>
            <a:off x="320040" y="1947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20850" y="1947672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CAST_ROLE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36392" y="2039112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28" name="Text 26"/>
          <p:cNvSpPr/>
          <p:nvPr/>
        </p:nvSpPr>
        <p:spPr>
          <a:xfrm>
            <a:off x="3136392" y="2039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1 : 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1200" y="1947672"/>
            <a:ext cx="443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An actor can be cast in many movies through cast_role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2377440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31" name="Shape 29"/>
          <p:cNvSpPr/>
          <p:nvPr/>
        </p:nvSpPr>
        <p:spPr>
          <a:xfrm>
            <a:off x="228600" y="2377440"/>
            <a:ext cx="36576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32" name="Text 30"/>
          <p:cNvSpPr/>
          <p:nvPr/>
        </p:nvSpPr>
        <p:spPr>
          <a:xfrm>
            <a:off x="320040" y="2377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MOVIE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20850" y="2377440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CREW_ASSIGNMENT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36392" y="2468880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35" name="Text 33"/>
          <p:cNvSpPr/>
          <p:nvPr/>
        </p:nvSpPr>
        <p:spPr>
          <a:xfrm>
            <a:off x="3136392" y="2468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 : 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21200" y="2377440"/>
            <a:ext cx="443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movie employs multiple crew members via assignment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2807208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38" name="Shape 36"/>
          <p:cNvSpPr/>
          <p:nvPr/>
        </p:nvSpPr>
        <p:spPr>
          <a:xfrm>
            <a:off x="228600" y="2807208"/>
            <a:ext cx="36576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39" name="Text 37"/>
          <p:cNvSpPr/>
          <p:nvPr/>
        </p:nvSpPr>
        <p:spPr>
          <a:xfrm>
            <a:off x="320040" y="2807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20850" y="2807208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CREW_ASSIGNMENT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36392" y="2898648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42" name="Text 40"/>
          <p:cNvSpPr/>
          <p:nvPr/>
        </p:nvSpPr>
        <p:spPr>
          <a:xfrm>
            <a:off x="3136392" y="2898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 : 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30724" y="2807208"/>
            <a:ext cx="4430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crew member can be assigned to multiple movies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28600" y="3236976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45" name="Shape 43"/>
          <p:cNvSpPr/>
          <p:nvPr/>
        </p:nvSpPr>
        <p:spPr>
          <a:xfrm>
            <a:off x="228600" y="3236976"/>
            <a:ext cx="36576" cy="38404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46" name="Text 44"/>
          <p:cNvSpPr/>
          <p:nvPr/>
        </p:nvSpPr>
        <p:spPr>
          <a:xfrm>
            <a:off x="320040" y="32369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MOVIE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720850" y="3236976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CONTRACT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136392" y="3328416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49" name="Text 47"/>
          <p:cNvSpPr/>
          <p:nvPr/>
        </p:nvSpPr>
        <p:spPr>
          <a:xfrm>
            <a:off x="3136392" y="33284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1 : M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21200" y="3236976"/>
            <a:ext cx="443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movie has many contracts (Actor, Crew, Director)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28600" y="3666744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52" name="Shape 50"/>
          <p:cNvSpPr/>
          <p:nvPr/>
        </p:nvSpPr>
        <p:spPr>
          <a:xfrm>
            <a:off x="228600" y="3666744"/>
            <a:ext cx="36576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53" name="Text 51"/>
          <p:cNvSpPr/>
          <p:nvPr/>
        </p:nvSpPr>
        <p:spPr>
          <a:xfrm>
            <a:off x="320040" y="3666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MOVIE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720850" y="3666744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SCENE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136392" y="3758184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56" name="Text 54"/>
          <p:cNvSpPr/>
          <p:nvPr/>
        </p:nvSpPr>
        <p:spPr>
          <a:xfrm>
            <a:off x="3136392" y="37581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1 : M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21200" y="3666744"/>
            <a:ext cx="443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movie is composed of many scenes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28600" y="4096512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59" name="Shape 57"/>
          <p:cNvSpPr/>
          <p:nvPr/>
        </p:nvSpPr>
        <p:spPr>
          <a:xfrm>
            <a:off x="228600" y="4096512"/>
            <a:ext cx="36576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60" name="Text 58"/>
          <p:cNvSpPr/>
          <p:nvPr/>
        </p:nvSpPr>
        <p:spPr>
          <a:xfrm>
            <a:off x="320040" y="40965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LOCATION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720850" y="4096512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SCENE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136392" y="4187952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63" name="Text 61"/>
          <p:cNvSpPr/>
          <p:nvPr/>
        </p:nvSpPr>
        <p:spPr>
          <a:xfrm>
            <a:off x="3136392" y="4187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1 : M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21200" y="4096512"/>
            <a:ext cx="443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location can be the setting of many scenes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66" name="Shape 64"/>
          <p:cNvSpPr/>
          <p:nvPr/>
        </p:nvSpPr>
        <p:spPr>
          <a:xfrm>
            <a:off x="228600" y="4526280"/>
            <a:ext cx="36576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67" name="Text 65"/>
          <p:cNvSpPr/>
          <p:nvPr/>
        </p:nvSpPr>
        <p:spPr>
          <a:xfrm>
            <a:off x="320040" y="4526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SCENE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720850" y="4526280"/>
            <a:ext cx="20281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SCHEDULE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136392" y="4617720"/>
            <a:ext cx="640080" cy="201168"/>
          </a:xfrm>
          <a:prstGeom prst="roundRect">
            <a:avLst>
              <a:gd name="adj" fmla="val 54545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70" name="Text 68"/>
          <p:cNvSpPr/>
          <p:nvPr/>
        </p:nvSpPr>
        <p:spPr>
          <a:xfrm>
            <a:off x="3136392" y="4617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1 : M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521200" y="4526280"/>
            <a:ext cx="443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Each scene appears in one or more schedule entries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 dirty="0"/>
          </a:p>
        </p:txBody>
      </p:sp>
      <p:sp>
        <p:nvSpPr>
          <p:cNvPr id="3" name="Text 1"/>
          <p:cNvSpPr/>
          <p:nvPr/>
        </p:nvSpPr>
        <p:spPr>
          <a:xfrm>
            <a:off x="384048" y="914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Fetching Techniques  ·  Subqueries &amp; Joins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SUBQUERIES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12070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Movies above average budget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3977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3931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budget &gt; (SELECT AVG(budget) FROM movie)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783165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12" name="Shape 10"/>
          <p:cNvSpPr/>
          <p:nvPr/>
        </p:nvSpPr>
        <p:spPr>
          <a:xfrm>
            <a:off x="320040" y="1821625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1768729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Actors NOT in any contract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0825" y="1984248"/>
            <a:ext cx="4046855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039112"/>
            <a:ext cx="3931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actor_id NOT IN (SELECT party_id FROM contract ...)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35915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050" dirty="0"/>
          </a:p>
        </p:txBody>
      </p:sp>
      <p:sp>
        <p:nvSpPr>
          <p:cNvPr id="18" name="Text 16"/>
          <p:cNvSpPr/>
          <p:nvPr/>
        </p:nvSpPr>
        <p:spPr>
          <a:xfrm>
            <a:off x="512064" y="2395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Highest daily-rate location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633472"/>
            <a:ext cx="3977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20" name="Text 18"/>
          <p:cNvSpPr/>
          <p:nvPr/>
        </p:nvSpPr>
        <p:spPr>
          <a:xfrm>
            <a:off x="365760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daily_rate = (SELECT MAX(daily_rate) FROM ...)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95351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22" name="Shape 20"/>
          <p:cNvSpPr/>
          <p:nvPr/>
        </p:nvSpPr>
        <p:spPr>
          <a:xfrm>
            <a:off x="320040" y="3049355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050" dirty="0"/>
          </a:p>
        </p:txBody>
      </p:sp>
      <p:sp>
        <p:nvSpPr>
          <p:cNvPr id="23" name="Text 21"/>
          <p:cNvSpPr/>
          <p:nvPr/>
        </p:nvSpPr>
        <p:spPr>
          <a:xfrm>
            <a:off x="512064" y="2990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Multi-lead movies (HAVING)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227832"/>
            <a:ext cx="3977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25" name="Text 23"/>
          <p:cNvSpPr/>
          <p:nvPr/>
        </p:nvSpPr>
        <p:spPr>
          <a:xfrm>
            <a:off x="365760" y="3227832"/>
            <a:ext cx="3931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movie_id HAVING COUNT(*) &gt; 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54787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27" name="Shape 25"/>
          <p:cNvSpPr/>
          <p:nvPr/>
        </p:nvSpPr>
        <p:spPr>
          <a:xfrm>
            <a:off x="320040" y="3621024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050" dirty="0"/>
          </a:p>
        </p:txBody>
      </p:sp>
      <p:sp>
        <p:nvSpPr>
          <p:cNvPr id="28" name="Text 26"/>
          <p:cNvSpPr/>
          <p:nvPr/>
        </p:nvSpPr>
        <p:spPr>
          <a:xfrm>
            <a:off x="512064" y="35844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Sci-Fi genre actors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822192"/>
            <a:ext cx="3977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30" name="Text 28"/>
          <p:cNvSpPr/>
          <p:nvPr/>
        </p:nvSpPr>
        <p:spPr>
          <a:xfrm>
            <a:off x="365760" y="3822192"/>
            <a:ext cx="3931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actor_id IN (SELECT ... WHERE genre='Sci-Fi')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414223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32" name="Shape 30"/>
          <p:cNvSpPr/>
          <p:nvPr/>
        </p:nvSpPr>
        <p:spPr>
          <a:xfrm>
            <a:off x="320040" y="4258903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050"/>
          </a:p>
        </p:txBody>
      </p:sp>
      <p:sp>
        <p:nvSpPr>
          <p:cNvPr id="33" name="Text 31"/>
          <p:cNvSpPr/>
          <p:nvPr/>
        </p:nvSpPr>
        <p:spPr>
          <a:xfrm>
            <a:off x="512064" y="4178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Crew on highest-budget film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416552"/>
            <a:ext cx="397764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35" name="Text 33"/>
          <p:cNvSpPr/>
          <p:nvPr/>
        </p:nvSpPr>
        <p:spPr>
          <a:xfrm>
            <a:off x="365760" y="4416552"/>
            <a:ext cx="39319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movie_id = (SELECT movie_id WHERE budget=MAX)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777240"/>
            <a:ext cx="42519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37" name="Text 35"/>
          <p:cNvSpPr/>
          <p:nvPr/>
        </p:nvSpPr>
        <p:spPr>
          <a:xfrm>
            <a:off x="4663440" y="7772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JOINS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1170432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39" name="Shape 37"/>
          <p:cNvSpPr/>
          <p:nvPr/>
        </p:nvSpPr>
        <p:spPr>
          <a:xfrm>
            <a:off x="4785529" y="1269746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050"/>
          </a:p>
        </p:txBody>
      </p:sp>
      <p:sp>
        <p:nvSpPr>
          <p:cNvPr id="40" name="Text 38"/>
          <p:cNvSpPr/>
          <p:nvPr/>
        </p:nvSpPr>
        <p:spPr>
          <a:xfrm>
            <a:off x="4956048" y="1207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INNER JOIN — Movies &amp; Directors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13193" y="1444752"/>
            <a:ext cx="4179886" cy="2194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42" name="Text 40"/>
          <p:cNvSpPr/>
          <p:nvPr/>
        </p:nvSpPr>
        <p:spPr>
          <a:xfrm>
            <a:off x="4749228" y="1444752"/>
            <a:ext cx="4179887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 m JOIN director d ON m.director_id = d.director_id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1764792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44" name="Shape 42"/>
          <p:cNvSpPr/>
          <p:nvPr/>
        </p:nvSpPr>
        <p:spPr>
          <a:xfrm>
            <a:off x="4783666" y="1858772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050"/>
          </a:p>
        </p:txBody>
      </p:sp>
      <p:sp>
        <p:nvSpPr>
          <p:cNvPr id="45" name="Text 43"/>
          <p:cNvSpPr/>
          <p:nvPr/>
        </p:nvSpPr>
        <p:spPr>
          <a:xfrm>
            <a:off x="4956048" y="1801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INNER JOIN — Cast, Movie &amp; Contract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2039112"/>
            <a:ext cx="406908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47" name="Text 45"/>
          <p:cNvSpPr/>
          <p:nvPr/>
        </p:nvSpPr>
        <p:spPr>
          <a:xfrm>
            <a:off x="4791456" y="2039112"/>
            <a:ext cx="40233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 m JOIN cast_role cr JOIN actor a JOIN contract c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2367280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49" name="Shape 47"/>
          <p:cNvSpPr/>
          <p:nvPr/>
        </p:nvSpPr>
        <p:spPr>
          <a:xfrm>
            <a:off x="4781296" y="2401824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050"/>
          </a:p>
        </p:txBody>
      </p:sp>
      <p:sp>
        <p:nvSpPr>
          <p:cNvPr id="50" name="Text 48"/>
          <p:cNvSpPr/>
          <p:nvPr/>
        </p:nvSpPr>
        <p:spPr>
          <a:xfrm>
            <a:off x="4956048" y="2357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LEFT JOIN — Uncast Actors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672584" y="2565908"/>
            <a:ext cx="4242816" cy="3063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52" name="Text 50"/>
          <p:cNvSpPr/>
          <p:nvPr/>
        </p:nvSpPr>
        <p:spPr>
          <a:xfrm>
            <a:off x="4791456" y="2604516"/>
            <a:ext cx="3557693" cy="22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a LEFT JOIN cast_role cr ON a.actor_id = cr.actor_id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63440" y="2953512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54" name="Shape 52"/>
          <p:cNvSpPr/>
          <p:nvPr/>
        </p:nvSpPr>
        <p:spPr>
          <a:xfrm>
            <a:off x="4781465" y="3033099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050"/>
          </a:p>
        </p:txBody>
      </p:sp>
      <p:sp>
        <p:nvSpPr>
          <p:cNvPr id="55" name="Text 53"/>
          <p:cNvSpPr/>
          <p:nvPr/>
        </p:nvSpPr>
        <p:spPr>
          <a:xfrm>
            <a:off x="4956048" y="2990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LEFT JOIN — Location Usage Count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3227832"/>
            <a:ext cx="406908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57" name="Text 55"/>
          <p:cNvSpPr/>
          <p:nvPr/>
        </p:nvSpPr>
        <p:spPr>
          <a:xfrm>
            <a:off x="4791456" y="3227832"/>
            <a:ext cx="40233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shooting_location sl LEFT JOIN scene sc ON ...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63440" y="3547872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59" name="Shape 57"/>
          <p:cNvSpPr/>
          <p:nvPr/>
        </p:nvSpPr>
        <p:spPr>
          <a:xfrm>
            <a:off x="4791456" y="3638296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050"/>
          </a:p>
        </p:txBody>
      </p:sp>
      <p:sp>
        <p:nvSpPr>
          <p:cNvPr id="60" name="Text 58"/>
          <p:cNvSpPr/>
          <p:nvPr/>
        </p:nvSpPr>
        <p:spPr>
          <a:xfrm>
            <a:off x="4956048" y="3584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Multi-JOIN — Crew Roster &amp; Duration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54880" y="3822192"/>
            <a:ext cx="406908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62" name="Text 60"/>
          <p:cNvSpPr/>
          <p:nvPr/>
        </p:nvSpPr>
        <p:spPr>
          <a:xfrm>
            <a:off x="4791456" y="3822192"/>
            <a:ext cx="40233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crew_member cm JOIN crew_assignment ca JOIN movie m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663440" y="4142232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050"/>
          </a:p>
        </p:txBody>
      </p:sp>
      <p:sp>
        <p:nvSpPr>
          <p:cNvPr id="64" name="Shape 62"/>
          <p:cNvSpPr/>
          <p:nvPr/>
        </p:nvSpPr>
        <p:spPr>
          <a:xfrm>
            <a:off x="4767411" y="4224528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050"/>
          </a:p>
        </p:txBody>
      </p:sp>
      <p:sp>
        <p:nvSpPr>
          <p:cNvPr id="65" name="Text 63"/>
          <p:cNvSpPr/>
          <p:nvPr/>
        </p:nvSpPr>
        <p:spPr>
          <a:xfrm>
            <a:off x="4956048" y="4178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FULL OUTER JOIN — Scene vs Schedule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54880" y="4416552"/>
            <a:ext cx="406908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050"/>
          </a:p>
        </p:txBody>
      </p:sp>
      <p:sp>
        <p:nvSpPr>
          <p:cNvPr id="67" name="Text 65"/>
          <p:cNvSpPr/>
          <p:nvPr/>
        </p:nvSpPr>
        <p:spPr>
          <a:xfrm>
            <a:off x="4791456" y="4416552"/>
            <a:ext cx="40233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sc FULL OUTER JOIN schedule sch ON ...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Fetching Techniques  ·  Views &amp; Triggers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VIEWS  (7 Views)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8" name="Text 6"/>
          <p:cNvSpPr/>
          <p:nvPr/>
        </p:nvSpPr>
        <p:spPr>
          <a:xfrm>
            <a:off x="347472" y="11978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vw_movie_overview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Movie details with director name &amp; nationality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12" name="Text 10"/>
          <p:cNvSpPr/>
          <p:nvPr/>
        </p:nvSpPr>
        <p:spPr>
          <a:xfrm>
            <a:off x="347472" y="1691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vw_full_cast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8836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cast, character names &amp; billing order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157984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16" name="Text 14"/>
          <p:cNvSpPr/>
          <p:nvPr/>
        </p:nvSpPr>
        <p:spPr>
          <a:xfrm>
            <a:off x="347472" y="21854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vw_active_schedule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377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Scheduled &amp; In-Progress shoots with locations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651760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19" name="Shape 17"/>
          <p:cNvSpPr/>
          <p:nvPr/>
        </p:nvSpPr>
        <p:spPr>
          <a:xfrm>
            <a:off x="228600" y="2651760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20" name="Text 18"/>
          <p:cNvSpPr/>
          <p:nvPr/>
        </p:nvSpPr>
        <p:spPr>
          <a:xfrm>
            <a:off x="347472" y="2679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vw_movie_financials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Budget vs contract expenses &amp; remaining funds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145536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23" name="Shape 21"/>
          <p:cNvSpPr/>
          <p:nvPr/>
        </p:nvSpPr>
        <p:spPr>
          <a:xfrm>
            <a:off x="228600" y="3145536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24" name="Text 22"/>
          <p:cNvSpPr/>
          <p:nvPr/>
        </p:nvSpPr>
        <p:spPr>
          <a:xfrm>
            <a:off x="347472" y="31729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vw_location_utilization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3364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Scenes shot per location + estimated cost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639312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27" name="Shape 25"/>
          <p:cNvSpPr/>
          <p:nvPr/>
        </p:nvSpPr>
        <p:spPr>
          <a:xfrm>
            <a:off x="228600" y="3639312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28" name="Text 26"/>
          <p:cNvSpPr/>
          <p:nvPr/>
        </p:nvSpPr>
        <p:spPr>
          <a:xfrm>
            <a:off x="347472" y="36667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vw_director_portfolio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Director's movie count &amp; total managed budget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133088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31" name="Shape 29"/>
          <p:cNvSpPr/>
          <p:nvPr/>
        </p:nvSpPr>
        <p:spPr>
          <a:xfrm>
            <a:off x="228600" y="4133088"/>
            <a:ext cx="36576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32" name="Text 30"/>
          <p:cNvSpPr/>
          <p:nvPr/>
        </p:nvSpPr>
        <p:spPr>
          <a:xfrm>
            <a:off x="347472" y="4160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vw_daily_call_sheet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43525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Daily shoot schedule: call time &amp; wrap 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777240"/>
            <a:ext cx="425196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35" name="Text 33"/>
          <p:cNvSpPr/>
          <p:nvPr/>
        </p:nvSpPr>
        <p:spPr>
          <a:xfrm>
            <a:off x="4663440" y="7772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TRIGGERS  (7 Triggers)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1170432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37" name="Shape 35"/>
          <p:cNvSpPr/>
          <p:nvPr/>
        </p:nvSpPr>
        <p:spPr>
          <a:xfrm>
            <a:off x="4663440" y="1170432"/>
            <a:ext cx="36576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38" name="Shape 36"/>
          <p:cNvSpPr/>
          <p:nvPr/>
        </p:nvSpPr>
        <p:spPr>
          <a:xfrm>
            <a:off x="7754112" y="1232408"/>
            <a:ext cx="1115568" cy="312928"/>
          </a:xfrm>
          <a:prstGeom prst="roundRect">
            <a:avLst>
              <a:gd name="adj" fmla="val 6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39" name="Text 37"/>
          <p:cNvSpPr/>
          <p:nvPr/>
        </p:nvSpPr>
        <p:spPr>
          <a:xfrm>
            <a:off x="7788275" y="1280160"/>
            <a:ext cx="10814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 UPDATE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11978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trg_set_release_year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73168" y="13990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Auto-sets release_year when status → Released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1664208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43" name="Shape 41"/>
          <p:cNvSpPr/>
          <p:nvPr/>
        </p:nvSpPr>
        <p:spPr>
          <a:xfrm>
            <a:off x="4663440" y="1664208"/>
            <a:ext cx="36576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44" name="Shape 42"/>
          <p:cNvSpPr/>
          <p:nvPr/>
        </p:nvSpPr>
        <p:spPr>
          <a:xfrm>
            <a:off x="7754112" y="1741932"/>
            <a:ext cx="1115568" cy="283464"/>
          </a:xfrm>
          <a:prstGeom prst="roundRect">
            <a:avLst>
              <a:gd name="adj" fmla="val 6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45" name="Text 43"/>
          <p:cNvSpPr/>
          <p:nvPr/>
        </p:nvSpPr>
        <p:spPr>
          <a:xfrm>
            <a:off x="7788275" y="1773936"/>
            <a:ext cx="10814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 DELETE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16916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trg_protect_director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73168" y="18928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Blocks deletion of directors with active movies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2157984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49" name="Shape 47"/>
          <p:cNvSpPr/>
          <p:nvPr/>
        </p:nvSpPr>
        <p:spPr>
          <a:xfrm>
            <a:off x="4663440" y="2157984"/>
            <a:ext cx="36576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50" name="Shape 48"/>
          <p:cNvSpPr/>
          <p:nvPr/>
        </p:nvSpPr>
        <p:spPr>
          <a:xfrm>
            <a:off x="7824851" y="2230723"/>
            <a:ext cx="1030541" cy="293434"/>
          </a:xfrm>
          <a:prstGeom prst="roundRect">
            <a:avLst>
              <a:gd name="adj" fmla="val 6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51" name="Text 49"/>
          <p:cNvSpPr/>
          <p:nvPr/>
        </p:nvSpPr>
        <p:spPr>
          <a:xfrm>
            <a:off x="7875905" y="2277269"/>
            <a:ext cx="9480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AFTER INSERT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73168" y="21854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trg_high_value_contract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73168" y="238658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Logs contracts exceeding PKR 10 million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2651760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55" name="Shape 53"/>
          <p:cNvSpPr/>
          <p:nvPr/>
        </p:nvSpPr>
        <p:spPr>
          <a:xfrm>
            <a:off x="4663440" y="2651760"/>
            <a:ext cx="36576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56" name="Shape 54"/>
          <p:cNvSpPr/>
          <p:nvPr/>
        </p:nvSpPr>
        <p:spPr>
          <a:xfrm>
            <a:off x="7875905" y="2715768"/>
            <a:ext cx="979487" cy="283464"/>
          </a:xfrm>
          <a:prstGeom prst="roundRect">
            <a:avLst>
              <a:gd name="adj" fmla="val 6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57" name="Text 55"/>
          <p:cNvSpPr/>
          <p:nvPr/>
        </p:nvSpPr>
        <p:spPr>
          <a:xfrm>
            <a:off x="7885049" y="2761297"/>
            <a:ext cx="9480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AFTER UPDATE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73168" y="26791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trg_movie_status_audit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773168" y="28803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Audits every production phase change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3147737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 dirty="0"/>
          </a:p>
        </p:txBody>
      </p:sp>
      <p:sp>
        <p:nvSpPr>
          <p:cNvPr id="61" name="Shape 59"/>
          <p:cNvSpPr/>
          <p:nvPr/>
        </p:nvSpPr>
        <p:spPr>
          <a:xfrm>
            <a:off x="4663440" y="3145536"/>
            <a:ext cx="36576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62" name="Shape 60"/>
          <p:cNvSpPr/>
          <p:nvPr/>
        </p:nvSpPr>
        <p:spPr>
          <a:xfrm>
            <a:off x="7902575" y="3200400"/>
            <a:ext cx="952817" cy="320040"/>
          </a:xfrm>
          <a:prstGeom prst="roundRect">
            <a:avLst>
              <a:gd name="adj" fmla="val 6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63" name="Text 61"/>
          <p:cNvSpPr/>
          <p:nvPr/>
        </p:nvSpPr>
        <p:spPr>
          <a:xfrm>
            <a:off x="7893050" y="3273552"/>
            <a:ext cx="9766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 INSERT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773168" y="31729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trg_prevent_location_overlap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773168" y="33741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Prevents double-booking a shooting location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40" y="3639312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67" name="Shape 65"/>
          <p:cNvSpPr/>
          <p:nvPr/>
        </p:nvSpPr>
        <p:spPr>
          <a:xfrm>
            <a:off x="4663440" y="3639312"/>
            <a:ext cx="36576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68" name="Shape 66"/>
          <p:cNvSpPr/>
          <p:nvPr/>
        </p:nvSpPr>
        <p:spPr>
          <a:xfrm>
            <a:off x="7885049" y="3685032"/>
            <a:ext cx="984631" cy="354774"/>
          </a:xfrm>
          <a:prstGeom prst="roundRect">
            <a:avLst>
              <a:gd name="adj" fmla="val 6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 dirty="0"/>
          </a:p>
        </p:txBody>
      </p:sp>
      <p:sp>
        <p:nvSpPr>
          <p:cNvPr id="69" name="Text 67"/>
          <p:cNvSpPr/>
          <p:nvPr/>
        </p:nvSpPr>
        <p:spPr>
          <a:xfrm>
            <a:off x="7923213" y="3770545"/>
            <a:ext cx="9464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 INSERT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773168" y="36667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trg_check_crew_dates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773168" y="38679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Enforces start_date &lt; end_date on assignments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81728" y="4123944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73" name="Shape 71"/>
          <p:cNvSpPr/>
          <p:nvPr/>
        </p:nvSpPr>
        <p:spPr>
          <a:xfrm>
            <a:off x="4663440" y="4133088"/>
            <a:ext cx="36576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74" name="Shape 72"/>
          <p:cNvSpPr/>
          <p:nvPr/>
        </p:nvSpPr>
        <p:spPr>
          <a:xfrm>
            <a:off x="7914513" y="4168828"/>
            <a:ext cx="993775" cy="340001"/>
          </a:xfrm>
          <a:prstGeom prst="roundRect">
            <a:avLst>
              <a:gd name="adj" fmla="val 60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75" name="Text 73"/>
          <p:cNvSpPr/>
          <p:nvPr/>
        </p:nvSpPr>
        <p:spPr>
          <a:xfrm>
            <a:off x="7939277" y="4234508"/>
            <a:ext cx="944245" cy="20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 INSERT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773168" y="41605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trg_check_positive_budget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773168" y="43616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Rejects non-positive movie budgets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Fetching Techniques  ·  Stored Procedures &amp; Functions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STORED PROCEDURES  (6)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36576" cy="5212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proc_get_cast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(p_movie_id)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Prints full cast list using a cursor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746504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12" name="Shape 10"/>
          <p:cNvSpPr/>
          <p:nvPr/>
        </p:nvSpPr>
        <p:spPr>
          <a:xfrm>
            <a:off x="228600" y="1746504"/>
            <a:ext cx="36576" cy="5212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13" name="Text 11"/>
          <p:cNvSpPr/>
          <p:nvPr/>
        </p:nvSpPr>
        <p:spPr>
          <a:xfrm>
            <a:off x="347472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proc_assign_crew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196596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(movie_id, crew_id, job, dates)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112264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Dynamically assigns crew to a movie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322576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17" name="Shape 15"/>
          <p:cNvSpPr/>
          <p:nvPr/>
        </p:nvSpPr>
        <p:spPr>
          <a:xfrm>
            <a:off x="228600" y="2322576"/>
            <a:ext cx="36576" cy="5212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18" name="Text 16"/>
          <p:cNvSpPr/>
          <p:nvPr/>
        </p:nvSpPr>
        <p:spPr>
          <a:xfrm>
            <a:off x="347472" y="2359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proc_movie_summary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254203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(p_movie_id)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68833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Dashboard: title, budget, cast, scenes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898648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22" name="Shape 20"/>
          <p:cNvSpPr/>
          <p:nvPr/>
        </p:nvSpPr>
        <p:spPr>
          <a:xfrm>
            <a:off x="228600" y="2898648"/>
            <a:ext cx="36576" cy="5212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23" name="Text 21"/>
          <p:cNvSpPr/>
          <p:nvPr/>
        </p:nvSpPr>
        <p:spPr>
          <a:xfrm>
            <a:off x="347472" y="29352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proc_delay_production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11810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(movie_id, delay_days)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3264408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Shifts all schedule dates + marks Postponed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474720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27" name="Shape 25"/>
          <p:cNvSpPr/>
          <p:nvPr/>
        </p:nvSpPr>
        <p:spPr>
          <a:xfrm>
            <a:off x="228600" y="3474720"/>
            <a:ext cx="36576" cy="5212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28" name="Text 26"/>
          <p:cNvSpPr/>
          <p:nvPr/>
        </p:nvSpPr>
        <p:spPr>
          <a:xfrm>
            <a:off x="347472" y="35112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proc_terminate_crew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369417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(crew_id, movie_id)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384048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Sets crew end_date to SYSDATE (early exit)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405079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32" name="Shape 30"/>
          <p:cNvSpPr/>
          <p:nvPr/>
        </p:nvSpPr>
        <p:spPr>
          <a:xfrm>
            <a:off x="228600" y="4050792"/>
            <a:ext cx="36576" cy="5212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33" name="Text 31"/>
          <p:cNvSpPr/>
          <p:nvPr/>
        </p:nvSpPr>
        <p:spPr>
          <a:xfrm>
            <a:off x="347472" y="4087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proc_estimate_location_costs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" y="427024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(p_movie_id)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441655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Calculates location costs from schedule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777240"/>
            <a:ext cx="4251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37" name="Text 35"/>
          <p:cNvSpPr/>
          <p:nvPr/>
        </p:nvSpPr>
        <p:spPr>
          <a:xfrm>
            <a:off x="4663440" y="7772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FUNCTIONS &amp; CORRELATED SUBQUERIES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1170432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39" name="Shape 37"/>
          <p:cNvSpPr/>
          <p:nvPr/>
        </p:nvSpPr>
        <p:spPr>
          <a:xfrm>
            <a:off x="4663440" y="1170432"/>
            <a:ext cx="36576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40" name="Shape 38"/>
          <p:cNvSpPr/>
          <p:nvPr/>
        </p:nvSpPr>
        <p:spPr>
          <a:xfrm>
            <a:off x="8412480" y="1289304"/>
            <a:ext cx="457200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41" name="Text 39"/>
          <p:cNvSpPr/>
          <p:nvPr/>
        </p:nvSpPr>
        <p:spPr>
          <a:xfrm>
            <a:off x="8412480" y="1289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fn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120700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func_get_remaining_budget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13990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Returns budget minus total contracts for a movie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1673352"/>
            <a:ext cx="4251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45" name="Shape 43"/>
          <p:cNvSpPr/>
          <p:nvPr/>
        </p:nvSpPr>
        <p:spPr>
          <a:xfrm>
            <a:off x="4663440" y="1673352"/>
            <a:ext cx="36576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46" name="Shape 44"/>
          <p:cNvSpPr/>
          <p:nvPr/>
        </p:nvSpPr>
        <p:spPr>
          <a:xfrm>
            <a:off x="8412480" y="1792224"/>
            <a:ext cx="457200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47" name="Text 45"/>
          <p:cNvSpPr/>
          <p:nvPr/>
        </p:nvSpPr>
        <p:spPr>
          <a:xfrm>
            <a:off x="8412480" y="1792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fn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73168" y="170992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func_location_booked_days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73168" y="1901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Counts distinct booked days for a location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2286000"/>
            <a:ext cx="4251960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51" name="Text 49"/>
          <p:cNvSpPr/>
          <p:nvPr/>
        </p:nvSpPr>
        <p:spPr>
          <a:xfrm>
            <a:off x="4663440" y="228600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CORRELATED SUBQUERIES  (5)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2596896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53" name="Shape 51"/>
          <p:cNvSpPr/>
          <p:nvPr/>
        </p:nvSpPr>
        <p:spPr>
          <a:xfrm>
            <a:off x="4663440" y="2596896"/>
            <a:ext cx="36576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54" name="Text 52"/>
          <p:cNvSpPr/>
          <p:nvPr/>
        </p:nvSpPr>
        <p:spPr>
          <a:xfrm>
            <a:off x="4773168" y="25877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Most expensive contract per movie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73168" y="2770632"/>
            <a:ext cx="4050792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56" name="Text 54"/>
          <p:cNvSpPr/>
          <p:nvPr/>
        </p:nvSpPr>
        <p:spPr>
          <a:xfrm>
            <a:off x="4800600" y="2770632"/>
            <a:ext cx="4018788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total_value = (SELECT MAX FROM contract WHERE movie_id = ...)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63440" y="3182112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58" name="Shape 56"/>
          <p:cNvSpPr/>
          <p:nvPr/>
        </p:nvSpPr>
        <p:spPr>
          <a:xfrm>
            <a:off x="4663440" y="3182112"/>
            <a:ext cx="36576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59" name="Text 57"/>
          <p:cNvSpPr/>
          <p:nvPr/>
        </p:nvSpPr>
        <p:spPr>
          <a:xfrm>
            <a:off x="4800600" y="3163739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Actor contracts &gt; 20% of budget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00016" y="3346618"/>
            <a:ext cx="4215384" cy="35670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61" name="Text 59"/>
          <p:cNvSpPr/>
          <p:nvPr/>
        </p:nvSpPr>
        <p:spPr>
          <a:xfrm>
            <a:off x="4800600" y="3346618"/>
            <a:ext cx="3995928" cy="347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(SELECT SUM WHERE party_type='Actor') &gt; budget * 0.20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663440" y="3767328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63" name="Shape 61"/>
          <p:cNvSpPr/>
          <p:nvPr/>
        </p:nvSpPr>
        <p:spPr>
          <a:xfrm>
            <a:off x="4663440" y="3767328"/>
            <a:ext cx="36576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64" name="Text 62"/>
          <p:cNvSpPr/>
          <p:nvPr/>
        </p:nvSpPr>
        <p:spPr>
          <a:xfrm>
            <a:off x="4754880" y="3758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Scenes longer than avg per movie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745735" y="3968496"/>
            <a:ext cx="4169665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 dirty="0"/>
          </a:p>
        </p:txBody>
      </p:sp>
      <p:sp>
        <p:nvSpPr>
          <p:cNvPr id="66" name="Text 64"/>
          <p:cNvSpPr/>
          <p:nvPr/>
        </p:nvSpPr>
        <p:spPr>
          <a:xfrm>
            <a:off x="4773168" y="3995928"/>
            <a:ext cx="39319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duration &gt; (SELECT AVG FROM scene WHERE movie_id=sc.movie_id)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663440" y="4352544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100"/>
          </a:p>
        </p:txBody>
      </p:sp>
      <p:sp>
        <p:nvSpPr>
          <p:cNvPr id="68" name="Shape 66"/>
          <p:cNvSpPr/>
          <p:nvPr/>
        </p:nvSpPr>
        <p:spPr>
          <a:xfrm>
            <a:off x="4663440" y="4352544"/>
            <a:ext cx="36576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 sz="1100"/>
          </a:p>
        </p:txBody>
      </p:sp>
      <p:sp>
        <p:nvSpPr>
          <p:cNvPr id="69" name="Text 67"/>
          <p:cNvSpPr/>
          <p:nvPr/>
        </p:nvSpPr>
        <p:spPr>
          <a:xfrm>
            <a:off x="4773168" y="435381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Actors paid above average contract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773168" y="4553712"/>
            <a:ext cx="40462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/>
          </a:p>
        </p:txBody>
      </p:sp>
      <p:sp>
        <p:nvSpPr>
          <p:cNvPr id="71" name="Text 69"/>
          <p:cNvSpPr/>
          <p:nvPr/>
        </p:nvSpPr>
        <p:spPr>
          <a:xfrm>
            <a:off x="4800600" y="4608576"/>
            <a:ext cx="402336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total_value &gt; (SELECT AVG FROM contract WHERE type='Actor')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Working — How Data Flows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46304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6" name="Text 4"/>
          <p:cNvSpPr/>
          <p:nvPr/>
        </p:nvSpPr>
        <p:spPr>
          <a:xfrm>
            <a:off x="274320" y="877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" y="114486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37143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app_user 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Role-based auth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1261872"/>
            <a:ext cx="292608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10" name="Text 8"/>
          <p:cNvSpPr/>
          <p:nvPr/>
        </p:nvSpPr>
        <p:spPr>
          <a:xfrm>
            <a:off x="1898294" y="1152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21408" y="804672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12" name="Shape 10"/>
          <p:cNvSpPr/>
          <p:nvPr/>
        </p:nvSpPr>
        <p:spPr>
          <a:xfrm>
            <a:off x="2121408" y="804672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13" name="Text 11"/>
          <p:cNvSpPr/>
          <p:nvPr/>
        </p:nvSpPr>
        <p:spPr>
          <a:xfrm>
            <a:off x="2121408" y="877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12264" y="1124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1362287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Views &amp; Queries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Role-filtered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30168" y="1261872"/>
            <a:ext cx="292608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17" name="Text 15"/>
          <p:cNvSpPr/>
          <p:nvPr/>
        </p:nvSpPr>
        <p:spPr>
          <a:xfrm>
            <a:off x="3745382" y="1152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68496" y="804672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19" name="Shape 17"/>
          <p:cNvSpPr/>
          <p:nvPr/>
        </p:nvSpPr>
        <p:spPr>
          <a:xfrm>
            <a:off x="3968496" y="804672"/>
            <a:ext cx="146304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20" name="Text 18"/>
          <p:cNvSpPr/>
          <p:nvPr/>
        </p:nvSpPr>
        <p:spPr>
          <a:xfrm>
            <a:off x="3968496" y="877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79469" y="1120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CRUD 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46550" y="1345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INSERT / UPDATE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DELETE / SELECT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77256" y="1261872"/>
            <a:ext cx="292608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24" name="Text 22"/>
          <p:cNvSpPr/>
          <p:nvPr/>
        </p:nvSpPr>
        <p:spPr>
          <a:xfrm>
            <a:off x="5592470" y="1152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15584" y="804672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26" name="Shape 24"/>
          <p:cNvSpPr/>
          <p:nvPr/>
        </p:nvSpPr>
        <p:spPr>
          <a:xfrm>
            <a:off x="5815584" y="804672"/>
            <a:ext cx="14630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27" name="Text 25"/>
          <p:cNvSpPr/>
          <p:nvPr/>
        </p:nvSpPr>
        <p:spPr>
          <a:xfrm>
            <a:off x="5815584" y="877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3697" y="11363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Triggers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15584" y="1380745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Auto-fire on DML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Audit + Validate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24344" y="1261872"/>
            <a:ext cx="292608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31" name="Text 29"/>
          <p:cNvSpPr/>
          <p:nvPr/>
        </p:nvSpPr>
        <p:spPr>
          <a:xfrm>
            <a:off x="7439558" y="1152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62672" y="804672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33" name="Shape 31"/>
          <p:cNvSpPr/>
          <p:nvPr/>
        </p:nvSpPr>
        <p:spPr>
          <a:xfrm>
            <a:off x="7662672" y="804672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34" name="Text 32"/>
          <p:cNvSpPr/>
          <p:nvPr/>
        </p:nvSpPr>
        <p:spPr>
          <a:xfrm>
            <a:off x="7662672" y="877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50785" y="112242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Oracle DB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62672" y="1362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11g · Sequences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FK Constraints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Role-Based Access Control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2267712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39" name="Shape 37"/>
          <p:cNvSpPr/>
          <p:nvPr/>
        </p:nvSpPr>
        <p:spPr>
          <a:xfrm>
            <a:off x="274320" y="2267712"/>
            <a:ext cx="2011680" cy="2743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40" name="Text 38"/>
          <p:cNvSpPr/>
          <p:nvPr/>
        </p:nvSpPr>
        <p:spPr>
          <a:xfrm>
            <a:off x="27432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4048" y="25786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Full CRUD on all tables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Manage users, view all reports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50592" y="2267712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43" name="Shape 41"/>
          <p:cNvSpPr/>
          <p:nvPr/>
        </p:nvSpPr>
        <p:spPr>
          <a:xfrm>
            <a:off x="2450592" y="2267712"/>
            <a:ext cx="201168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44" name="Text 42"/>
          <p:cNvSpPr/>
          <p:nvPr/>
        </p:nvSpPr>
        <p:spPr>
          <a:xfrm>
            <a:off x="2450592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Director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560320" y="25786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Manage own movies, assign crew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View schedules &amp; budgets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26864" y="2267712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 dirty="0"/>
          </a:p>
        </p:txBody>
      </p:sp>
      <p:sp>
        <p:nvSpPr>
          <p:cNvPr id="47" name="Shape 45"/>
          <p:cNvSpPr/>
          <p:nvPr/>
        </p:nvSpPr>
        <p:spPr>
          <a:xfrm>
            <a:off x="4626864" y="2267712"/>
            <a:ext cx="2011680" cy="27432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48" name="Text 46"/>
          <p:cNvSpPr/>
          <p:nvPr/>
        </p:nvSpPr>
        <p:spPr>
          <a:xfrm>
            <a:off x="4626864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Actor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36592" y="25786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View cast roles &amp; contracts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Accept/review assignments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03136" y="2267712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51" name="Shape 49"/>
          <p:cNvSpPr/>
          <p:nvPr/>
        </p:nvSpPr>
        <p:spPr>
          <a:xfrm>
            <a:off x="6803136" y="2267712"/>
            <a:ext cx="201168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52" name="Text 50"/>
          <p:cNvSpPr/>
          <p:nvPr/>
        </p:nvSpPr>
        <p:spPr>
          <a:xfrm>
            <a:off x="6803136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Crew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12864" y="25786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View assignments &amp; schedules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Read-only access to movies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7432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Database Layer Architecture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" y="3657600"/>
            <a:ext cx="1508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56" name="Shape 54"/>
          <p:cNvSpPr/>
          <p:nvPr/>
        </p:nvSpPr>
        <p:spPr>
          <a:xfrm>
            <a:off x="274320" y="3657600"/>
            <a:ext cx="150876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57" name="Text 55"/>
          <p:cNvSpPr/>
          <p:nvPr/>
        </p:nvSpPr>
        <p:spPr>
          <a:xfrm>
            <a:off x="274320" y="3749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WinForms UI (C#)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783080" y="3913632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59" name="Text 57"/>
          <p:cNvSpPr/>
          <p:nvPr/>
        </p:nvSpPr>
        <p:spPr>
          <a:xfrm>
            <a:off x="1801368" y="382219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984248" y="3657600"/>
            <a:ext cx="15727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61" name="Shape 59"/>
          <p:cNvSpPr/>
          <p:nvPr/>
        </p:nvSpPr>
        <p:spPr>
          <a:xfrm>
            <a:off x="1984248" y="3657600"/>
            <a:ext cx="1572768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62" name="Text 60"/>
          <p:cNvSpPr/>
          <p:nvPr/>
        </p:nvSpPr>
        <p:spPr>
          <a:xfrm>
            <a:off x="1984248" y="37490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DatabaseHelper.cs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557016" y="3913632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PK" sz="1200"/>
          </a:p>
        </p:txBody>
      </p:sp>
      <p:sp>
        <p:nvSpPr>
          <p:cNvPr id="64" name="Text 62"/>
          <p:cNvSpPr/>
          <p:nvPr/>
        </p:nvSpPr>
        <p:spPr>
          <a:xfrm>
            <a:off x="3575304" y="382219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758184" y="3657600"/>
            <a:ext cx="1737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66" name="Shape 64"/>
          <p:cNvSpPr/>
          <p:nvPr/>
        </p:nvSpPr>
        <p:spPr>
          <a:xfrm>
            <a:off x="3758184" y="3657600"/>
            <a:ext cx="173736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67" name="Text 65"/>
          <p:cNvSpPr/>
          <p:nvPr/>
        </p:nvSpPr>
        <p:spPr>
          <a:xfrm>
            <a:off x="3758184" y="3749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Oracle ODP.NET → DB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573014" y="3442716"/>
            <a:ext cx="3429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 sz="1200"/>
          </a:p>
        </p:txBody>
      </p:sp>
      <p:sp>
        <p:nvSpPr>
          <p:cNvPr id="69" name="Shape 67"/>
          <p:cNvSpPr/>
          <p:nvPr/>
        </p:nvSpPr>
        <p:spPr>
          <a:xfrm>
            <a:off x="5573014" y="3424428"/>
            <a:ext cx="34290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PK" sz="1200"/>
          </a:p>
        </p:txBody>
      </p:sp>
      <p:sp>
        <p:nvSpPr>
          <p:cNvPr id="70" name="Text 68"/>
          <p:cNvSpPr/>
          <p:nvPr/>
        </p:nvSpPr>
        <p:spPr>
          <a:xfrm>
            <a:off x="5664454" y="34610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Auto-Connect Strategy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664454" y="37353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Tries: </a:t>
            </a:r>
            <a:r>
              <a:rPr lang="en-US" sz="1200" dirty="0">
                <a:solidFill>
                  <a:srgbClr val="475569"/>
                </a:solidFill>
              </a:rPr>
              <a:t>Ports 1521/1522 · SIDs xe, XE, orcl
</a:t>
            </a:r>
            <a:r>
              <a:rPr lang="en-US" sz="1200" b="1" dirty="0">
                <a:solidFill>
                  <a:srgbClr val="475569"/>
                </a:solidFill>
              </a:rPr>
              <a:t>Session: </a:t>
            </a:r>
            <a:r>
              <a:rPr lang="en-US" sz="1200" dirty="0">
                <a:solidFill>
                  <a:srgbClr val="475569"/>
                </a:solidFill>
              </a:rPr>
              <a:t>userId, partyId, role stored in
DatabaseHelper.SetSession()
</a:t>
            </a:r>
            <a:r>
              <a:rPr lang="en-US" sz="1200" b="1" dirty="0">
                <a:solidFill>
                  <a:srgbClr val="475569"/>
                </a:solidFill>
              </a:rPr>
              <a:t>Pool: </a:t>
            </a:r>
            <a:r>
              <a:rPr lang="en-US" sz="1200" dirty="0">
                <a:solidFill>
                  <a:srgbClr val="475569"/>
                </a:solidFill>
              </a:rPr>
              <a:t>Min 1 · Max 10 connections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521208"/>
            <a:ext cx="4572000" cy="4572000"/>
          </a:xfrm>
          <a:prstGeom prst="ellipse">
            <a:avLst/>
          </a:prstGeom>
          <a:solidFill>
            <a:srgbClr val="0EA5E9">
              <a:alpha val="6000"/>
            </a:srgbClr>
          </a:solidFill>
          <a:ln w="6350">
            <a:solidFill>
              <a:srgbClr val="0EA5E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6366F1">
              <a:alpha val="8000"/>
            </a:srgbClr>
          </a:solidFill>
          <a:ln w="6350">
            <a:solidFill>
              <a:srgbClr val="6366F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14400" y="1335786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A5E9"/>
                </a:solidFill>
              </a:rPr>
              <a:t>Film Studio Management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218688"/>
            <a:ext cx="4572000" cy="0"/>
          </a:xfrm>
          <a:prstGeom prst="line">
            <a:avLst/>
          </a:prstGeom>
          <a:noFill/>
          <a:ln w="635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851916" y="432968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Eshal Hussain  24F-0597   ·   Ezza Bilal  24F-0603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108</TotalTime>
  <Words>1406</Words>
  <Application>Microsoft Office PowerPoint</Application>
  <PresentationFormat>On-screen Show (16:9)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Georgia</vt:lpstr>
      <vt:lpstr>Segoe UI</vt:lpstr>
      <vt:lpstr>Seogo UI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Film Studio Management System</dc:title>
  <dc:subject>PptxGenJS Presentation</dc:subject>
  <dc:creator>PptxGenJS</dc:creator>
  <cp:lastModifiedBy>f240597</cp:lastModifiedBy>
  <cp:revision>5</cp:revision>
  <dcterms:created xsi:type="dcterms:W3CDTF">2026-05-08T07:23:41Z</dcterms:created>
  <dcterms:modified xsi:type="dcterms:W3CDTF">2026-05-08T13:42:58Z</dcterms:modified>
</cp:coreProperties>
</file>